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fe6072f34d477e" /><Relationship Type="http://schemas.openxmlformats.org/officeDocument/2006/relationships/extended-properties" Target="/docProps/app.xml" Id="R45792a90a8e84ad9" /><Relationship Type="http://schemas.openxmlformats.org/officeDocument/2006/relationships/officeDocument" Target="/ppt/presentation.xml" Id="R6c4019f8239b41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849223e12f45e2"/>
  </p:sldMasterIdLst>
  <p:notesMasterIdLst>
    <p:notesMasterId xmlns:r="http://schemas.openxmlformats.org/officeDocument/2006/relationships" r:id="R6b6be7de8dfd4cc9"/>
  </p:notesMasterIdLst>
  <p:sldIdLst>
    <p:sldId xmlns:r="http://schemas.openxmlformats.org/officeDocument/2006/relationships" id="256" r:id="Rcef9aa9a80a74dec"/>
    <p:sldId xmlns:r="http://schemas.openxmlformats.org/officeDocument/2006/relationships" id="257" r:id="R19f4ae89d2e24e49"/>
    <p:sldId xmlns:r="http://schemas.openxmlformats.org/officeDocument/2006/relationships" id="258" r:id="R659f506039e84c6c"/>
    <p:sldId xmlns:r="http://schemas.openxmlformats.org/officeDocument/2006/relationships" id="259" r:id="Rcd51776bcb464930"/>
    <p:sldId xmlns:r="http://schemas.openxmlformats.org/officeDocument/2006/relationships" id="260" r:id="R0804eda991b24e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71af6ba389464d" /><Relationship Type="http://schemas.openxmlformats.org/officeDocument/2006/relationships/slideMaster" Target="/ppt/slideMasters/slideMaster1.xml" Id="R3d849223e12f45e2" /><Relationship Type="http://schemas.openxmlformats.org/officeDocument/2006/relationships/notesMaster" Target="/ppt/notesMasters/notesMaster1.xml" Id="R6b6be7de8dfd4cc9" /><Relationship Type="http://schemas.openxmlformats.org/officeDocument/2006/relationships/presProps" Target="/ppt/presProps.xml" Id="R2c40d657068243ae" /><Relationship Type="http://schemas.openxmlformats.org/officeDocument/2006/relationships/tableStyles" Target="/ppt/tableStyles.xml" Id="R8cf462706979400a" /><Relationship Type="http://schemas.openxmlformats.org/officeDocument/2006/relationships/slide" Target="/ppt/slides/slide1.xml" Id="Rcef9aa9a80a74dec" /><Relationship Type="http://schemas.openxmlformats.org/officeDocument/2006/relationships/slide" Target="/ppt/slides/slide2.xml" Id="R19f4ae89d2e24e49" /><Relationship Type="http://schemas.openxmlformats.org/officeDocument/2006/relationships/slide" Target="/ppt/slides/slide3.xml" Id="R659f506039e84c6c" /><Relationship Type="http://schemas.openxmlformats.org/officeDocument/2006/relationships/slide" Target="/ppt/slides/slide4.xml" Id="Rcd51776bcb464930" /><Relationship Type="http://schemas.openxmlformats.org/officeDocument/2006/relationships/slide" Target="/ppt/slides/slide5.xml" Id="R0804eda991b24e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ddbe8e5ecb46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87181277c4e65" /><Relationship Type="http://schemas.openxmlformats.org/officeDocument/2006/relationships/notesMaster" Target="/ppt/notesMasters/notesMaster1.xml" Id="R16c9b5932bdf47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e3899e5c7e4701" /><Relationship Type="http://schemas.openxmlformats.org/officeDocument/2006/relationships/notesMaster" Target="/ppt/notesMasters/notesMaster1.xml" Id="R3f53b4ad274a49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a013ad1e8f48d7" /><Relationship Type="http://schemas.openxmlformats.org/officeDocument/2006/relationships/notesMaster" Target="/ppt/notesMasters/notesMaster1.xml" Id="Ra6ace6a686f840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8303f1681f54df7" /><Relationship Type="http://schemas.openxmlformats.org/officeDocument/2006/relationships/notesMaster" Target="/ppt/notesMasters/notesMaster1.xml" Id="R15be432201a546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a2a7497ada54bfc" /><Relationship Type="http://schemas.openxmlformats.org/officeDocument/2006/relationships/notesMaster" Target="/ppt/notesMasters/notesMaster1.xml" Id="Rce713073453e43a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/Users/vedantaspectrum/Documents/uplift modeling/reports/metrics/result_card.json</a:t>
            </a:r>
          </a:p>
          <a:p xmlns:a="http://schemas.openxmlformats.org/drawingml/2006/main">
            <a:r>
              <a:t>- /Users/vedantaspectrum/Documents/uplift modeling/reports/metrics/final_frozen_economic_decisions.csv</a:t>
            </a:r>
          </a:p>
          <a:p xmlns:a="http://schemas.openxmlformats.org/drawingml/2006/main">
            <a:r>
              <a:t>- /Users/vedantaspectrum/Documents/uplift modeling/reports/metrics/promotion_decision.json</a:t>
            </a:r>
          </a:p>
          <a:p xmlns:a="http://schemas.openxmlformats.org/drawingml/2006/main">
            <a:r>
              <a:t>- /Users/vedantaspectrum/Documents/uplift modeling/decision_protocol.json</a:t>
            </a:r>
          </a:p>
          <a:p xmlns:a="http://schemas.openxmlformats.org/drawingml/2006/main">
            <a:r>
              <a:t>- /Users/vedantaspectrum/Documents/uplift modeling/reports/metrics/validation_qini_curve.csv</a:t>
            </a:r>
          </a:p>
          <a:p xmlns:a="http://schemas.openxmlformats.org/drawingml/2006/main">
            <a:r>
              <a:t>- /Users/vedantaspectrum/Documents/uplift modeling/ERRATA.md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/Users/vedantaspectrum/Documents/uplift modeling/reports/metrics/qini_curve.csv</a:t>
            </a:r>
          </a:p>
          <a:p xmlns:a="http://schemas.openxmlformats.org/drawingml/2006/main">
            <a:r>
              <a:t>- /Users/vedantaspectrum/Documents/uplift modeling/reports/metrics/result_card.json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/Users/vedantaspectrum/Documents/uplift modeling/reports/metrics/budget_metrics.csv</a:t>
            </a:r>
          </a:p>
          <a:p xmlns:a="http://schemas.openxmlformats.org/drawingml/2006/main">
            <a:r>
              <a:t>- /Users/vedantaspectrum/Documents/uplift modeling/reports/metrics/result_card.json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/Users/vedantaspectrum/Documents/uplift modeling/reports/metrics/policy_comparisons.csv</a:t>
            </a:r>
          </a:p>
          <a:p xmlns:a="http://schemas.openxmlformats.org/drawingml/2006/main">
            <a:r>
              <a:t>- /Users/vedantaspectrum/Documents/uplift modeling/reports/metrics/result_card.json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/Users/vedantaspectrum/Documents/uplift modeling/reports/metrics/decile_metrics.csv</a:t>
            </a:r>
          </a:p>
          <a:p xmlns:a="http://schemas.openxmlformats.org/drawingml/2006/main">
            <a:r>
              <a:t>- /Users/vedantaspectrum/Documents/uplift modeling/reports/metrics/result_card.json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14cc9e0464f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e308dac06b4f05" /><Relationship Type="http://schemas.openxmlformats.org/officeDocument/2006/relationships/slideLayout" Target="/ppt/slideLayouts/slideLayout1.xml" Id="R8960159d5dc446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60159d5dc446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26d9008e9464f" /><Relationship Type="http://schemas.openxmlformats.org/officeDocument/2006/relationships/notesSlide" Target="/ppt/notesSlides/notesSlide1.xml" Id="Rde44f08a078c48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78396ae8406a" /><Relationship Type="http://schemas.openxmlformats.org/officeDocument/2006/relationships/chart" Target="/ppt/slides/charts/chart1.xml" Id="R286c6bfbe2b846be" /><Relationship Type="http://schemas.openxmlformats.org/officeDocument/2006/relationships/notesSlide" Target="/ppt/notesSlides/notesSlide2.xml" Id="R0b2c092995124d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5579b6082420f" /><Relationship Type="http://schemas.openxmlformats.org/officeDocument/2006/relationships/chart" Target="/ppt/slides/charts/chart2.xml" Id="Rae96bcc6fa8e4eef" /><Relationship Type="http://schemas.openxmlformats.org/officeDocument/2006/relationships/notesSlide" Target="/ppt/notesSlides/notesSlide3.xml" Id="Rb09c4290f46145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186a4ffe8f4630" /><Relationship Type="http://schemas.openxmlformats.org/officeDocument/2006/relationships/chart" Target="/ppt/slides/charts/chart3.xml" Id="R2fd55f04d3074bda" /><Relationship Type="http://schemas.openxmlformats.org/officeDocument/2006/relationships/notesSlide" Target="/ppt/notesSlides/notesSlide4.xml" Id="R6bc3a70a2f0644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884bd4b2cb4fa0" /><Relationship Type="http://schemas.openxmlformats.org/officeDocument/2006/relationships/chart" Target="/ppt/slides/charts/chart4.xml" Id="Re4fe13c1790f4213" /><Relationship Type="http://schemas.openxmlformats.org/officeDocument/2006/relationships/notesSlide" Target="/ppt/notesSlides/notesSlide5.xml" Id="R649b54911cc1449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Response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21"/>
              <c:pt idx="0">
                <c:v>0%</c:v>
              </c:pt>
              <c:pt idx="1">
                <c:v>5%</c:v>
              </c:pt>
              <c:pt idx="2">
                <c:v>10%</c:v>
              </c:pt>
              <c:pt idx="3">
                <c:v>15%</c:v>
              </c:pt>
              <c:pt idx="4">
                <c:v>20%</c:v>
              </c:pt>
              <c:pt idx="5">
                <c:v>25%</c:v>
              </c:pt>
              <c:pt idx="6">
                <c:v>30%</c:v>
              </c:pt>
              <c:pt idx="7">
                <c:v>35%</c:v>
              </c:pt>
              <c:pt idx="8">
                <c:v>40%</c:v>
              </c:pt>
              <c:pt idx="9">
                <c:v>45%</c:v>
              </c:pt>
              <c:pt idx="10">
                <c:v>50%</c:v>
              </c:pt>
              <c:pt idx="11">
                <c:v>55%</c:v>
              </c:pt>
              <c:pt idx="12">
                <c:v>60%</c:v>
              </c:pt>
              <c:pt idx="13">
                <c:v>65%</c:v>
              </c:pt>
              <c:pt idx="14">
                <c:v>70%</c:v>
              </c:pt>
              <c:pt idx="15">
                <c:v>75%</c:v>
              </c:pt>
              <c:pt idx="16">
                <c:v>80%</c:v>
              </c:pt>
              <c:pt idx="17">
                <c:v>85%</c:v>
              </c:pt>
              <c:pt idx="18">
                <c:v>90%</c:v>
              </c:pt>
              <c:pt idx="19">
                <c:v>95%</c:v>
              </c:pt>
              <c:pt idx="20">
                <c:v>100%</c:v>
              </c:pt>
            </c:strLit>
          </c:cat>
          <c:val>
            <c:numLit>
              <c:formatCode>0.0</c:formatCode>
              <c:ptCount val="21"/>
              <c:pt idx="0">
                <c:v>0</c:v>
              </c:pt>
              <c:pt idx="1">
                <c:v>0.8289955280161966</c:v>
              </c:pt>
              <c:pt idx="2">
                <c:v>0.974377803511878</c:v>
              </c:pt>
              <c:pt idx="3">
                <c:v>1.0030167111075816</c:v>
              </c:pt>
              <c:pt idx="4">
                <c:v>1.0050282132614918</c:v>
              </c:pt>
              <c:pt idx="5">
                <c:v>1.035452391452823</c:v>
              </c:pt>
              <c:pt idx="6">
                <c:v>1.0286383654724205</c:v>
              </c:pt>
              <c:pt idx="7">
                <c:v>1.0668823207211098</c:v>
              </c:pt>
              <c:pt idx="8">
                <c:v>1.051242766606394</c:v>
              </c:pt>
              <c:pt idx="9">
                <c:v>1.0493066749719113</c:v>
              </c:pt>
              <c:pt idx="10">
                <c:v>1.0551903603947865</c:v>
              </c:pt>
              <c:pt idx="11">
                <c:v>1.0669577312405372</c:v>
              </c:pt>
              <c:pt idx="12">
                <c:v>1.0728414166634124</c:v>
              </c:pt>
              <c:pt idx="13">
                <c:v>1.0728414166634124</c:v>
              </c:pt>
              <c:pt idx="14">
                <c:v>1.0816669447977254</c:v>
              </c:pt>
              <c:pt idx="15">
                <c:v>1.0846087875091628</c:v>
              </c:pt>
              <c:pt idx="16">
                <c:v>1.0767890104518052</c:v>
              </c:pt>
              <c:pt idx="17">
                <c:v>1.0767890104518052</c:v>
              </c:pt>
              <c:pt idx="18">
                <c:v>1.0826726958746804</c:v>
              </c:pt>
              <c:pt idx="19">
                <c:v>1.0826726958746804</c:v>
              </c:pt>
              <c:pt idx="20">
                <c:v>1.085614538586118</c:v>
              </c:pt>
            </c:numLit>
          </c:val>
          <c:smooth val="0"/>
        </c:ser>
        <c:ser>
          <c:idx val="1"/>
          <c:order val="1"/>
          <c:tx>
            <c:v>S-learner</c:v>
          </c:tx>
          <c:spPr>
            <a:ln xmlns:a="http://schemas.openxmlformats.org/drawingml/2006/main" w="28575">
              <a:solidFill>
                <a:srgbClr val="F5851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58518"/>
              </a:solidFill>
            </c:spPr>
          </c:marker>
          <c:cat>
            <c:strLit>
              <c:ptCount val="21"/>
              <c:pt idx="0">
                <c:v>0%</c:v>
              </c:pt>
              <c:pt idx="1">
                <c:v>5%</c:v>
              </c:pt>
              <c:pt idx="2">
                <c:v>10%</c:v>
              </c:pt>
              <c:pt idx="3">
                <c:v>15%</c:v>
              </c:pt>
              <c:pt idx="4">
                <c:v>20%</c:v>
              </c:pt>
              <c:pt idx="5">
                <c:v>25%</c:v>
              </c:pt>
              <c:pt idx="6">
                <c:v>30%</c:v>
              </c:pt>
              <c:pt idx="7">
                <c:v>35%</c:v>
              </c:pt>
              <c:pt idx="8">
                <c:v>40%</c:v>
              </c:pt>
              <c:pt idx="9">
                <c:v>45%</c:v>
              </c:pt>
              <c:pt idx="10">
                <c:v>50%</c:v>
              </c:pt>
              <c:pt idx="11">
                <c:v>55%</c:v>
              </c:pt>
              <c:pt idx="12">
                <c:v>60%</c:v>
              </c:pt>
              <c:pt idx="13">
                <c:v>65%</c:v>
              </c:pt>
              <c:pt idx="14">
                <c:v>70%</c:v>
              </c:pt>
              <c:pt idx="15">
                <c:v>75%</c:v>
              </c:pt>
              <c:pt idx="16">
                <c:v>80%</c:v>
              </c:pt>
              <c:pt idx="17">
                <c:v>85%</c:v>
              </c:pt>
              <c:pt idx="18">
                <c:v>90%</c:v>
              </c:pt>
              <c:pt idx="19">
                <c:v>95%</c:v>
              </c:pt>
              <c:pt idx="20">
                <c:v>100%</c:v>
              </c:pt>
            </c:strLit>
          </c:cat>
          <c:val>
            <c:numLit>
              <c:formatCode>0.0</c:formatCode>
              <c:ptCount val="21"/>
              <c:pt idx="0">
                <c:v>0</c:v>
              </c:pt>
              <c:pt idx="1">
                <c:v>0.7071479942120185</c:v>
              </c:pt>
              <c:pt idx="2">
                <c:v>0.7453919494607076</c:v>
              </c:pt>
              <c:pt idx="3">
                <c:v>0.7542174775950206</c:v>
              </c:pt>
              <c:pt idx="4">
                <c:v>0.7640487568062885</c:v>
              </c:pt>
              <c:pt idx="5">
                <c:v>0.7690021016716363</c:v>
              </c:pt>
              <c:pt idx="6">
                <c:v>0.7748857870945114</c:v>
              </c:pt>
              <c:pt idx="7">
                <c:v>0.7807694725173867</c:v>
              </c:pt>
              <c:pt idx="8">
                <c:v>0.7729496954600289</c:v>
              </c:pt>
              <c:pt idx="9">
                <c:v>0.7651299184026711</c:v>
              </c:pt>
              <c:pt idx="10">
                <c:v>0.7406648361536424</c:v>
              </c:pt>
              <c:pt idx="11">
                <c:v>0.7612577351337059</c:v>
              </c:pt>
              <c:pt idx="12">
                <c:v>0.7789087914023317</c:v>
              </c:pt>
              <c:pt idx="13">
                <c:v>0.7847924768252069</c:v>
              </c:pt>
              <c:pt idx="14">
                <c:v>0.7936180049595198</c:v>
              </c:pt>
              <c:pt idx="15">
                <c:v>0.831861960208209</c:v>
              </c:pt>
              <c:pt idx="16">
                <c:v>0.8622861383995404</c:v>
              </c:pt>
              <c:pt idx="17">
                <c:v>0.8858208800910414</c:v>
              </c:pt>
              <c:pt idx="18">
                <c:v>0.8800126051875936</c:v>
              </c:pt>
              <c:pt idx="19">
                <c:v>0.8831806794573139</c:v>
              </c:pt>
              <c:pt idx="20">
                <c:v>1.0856145385861202</c:v>
              </c:pt>
            </c:numLit>
          </c:val>
          <c:smooth val="0"/>
        </c:ser>
        <c:ser>
          <c:idx val="2"/>
          <c:order val="2"/>
          <c:tx>
            <c:v>T-learner</c:v>
          </c:tx>
          <c:spPr>
            <a:ln xmlns:a="http://schemas.openxmlformats.org/drawingml/2006/main" w="28575">
              <a:solidFill>
                <a:srgbClr val="54A24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A24B"/>
              </a:solidFill>
            </c:spPr>
          </c:marker>
          <c:cat>
            <c:strLit>
              <c:ptCount val="21"/>
              <c:pt idx="0">
                <c:v>0%</c:v>
              </c:pt>
              <c:pt idx="1">
                <c:v>5%</c:v>
              </c:pt>
              <c:pt idx="2">
                <c:v>10%</c:v>
              </c:pt>
              <c:pt idx="3">
                <c:v>15%</c:v>
              </c:pt>
              <c:pt idx="4">
                <c:v>20%</c:v>
              </c:pt>
              <c:pt idx="5">
                <c:v>25%</c:v>
              </c:pt>
              <c:pt idx="6">
                <c:v>30%</c:v>
              </c:pt>
              <c:pt idx="7">
                <c:v>35%</c:v>
              </c:pt>
              <c:pt idx="8">
                <c:v>40%</c:v>
              </c:pt>
              <c:pt idx="9">
                <c:v>45%</c:v>
              </c:pt>
              <c:pt idx="10">
                <c:v>50%</c:v>
              </c:pt>
              <c:pt idx="11">
                <c:v>55%</c:v>
              </c:pt>
              <c:pt idx="12">
                <c:v>60%</c:v>
              </c:pt>
              <c:pt idx="13">
                <c:v>65%</c:v>
              </c:pt>
              <c:pt idx="14">
                <c:v>70%</c:v>
              </c:pt>
              <c:pt idx="15">
                <c:v>75%</c:v>
              </c:pt>
              <c:pt idx="16">
                <c:v>80%</c:v>
              </c:pt>
              <c:pt idx="17">
                <c:v>85%</c:v>
              </c:pt>
              <c:pt idx="18">
                <c:v>90%</c:v>
              </c:pt>
              <c:pt idx="19">
                <c:v>95%</c:v>
              </c:pt>
              <c:pt idx="20">
                <c:v>100%</c:v>
              </c:pt>
            </c:strLit>
          </c:cat>
          <c:val>
            <c:numLit>
              <c:formatCode>0.0</c:formatCode>
              <c:ptCount val="21"/>
              <c:pt idx="0">
                <c:v>0</c:v>
              </c:pt>
              <c:pt idx="1">
                <c:v>0.639334790810097</c:v>
              </c:pt>
              <c:pt idx="2">
                <c:v>0.7455427704995619</c:v>
              </c:pt>
              <c:pt idx="3">
                <c:v>0.7751120186527932</c:v>
              </c:pt>
              <c:pt idx="4">
                <c:v>0.8094837906325172</c:v>
              </c:pt>
              <c:pt idx="5">
                <c:v>0.850669588592644</c:v>
              </c:pt>
              <c:pt idx="6">
                <c:v>0.8830298584184579</c:v>
              </c:pt>
              <c:pt idx="7">
                <c:v>0.8958029803411636</c:v>
              </c:pt>
              <c:pt idx="8">
                <c:v>0.885041360572368</c:v>
              </c:pt>
              <c:pt idx="9">
                <c:v>0.8909250459952432</c:v>
              </c:pt>
              <c:pt idx="10">
                <c:v>0.8919307970721984</c:v>
              </c:pt>
              <c:pt idx="11">
                <c:v>0.8704075575346075</c:v>
              </c:pt>
              <c:pt idx="12">
                <c:v>0.8821749283803579</c:v>
              </c:pt>
              <c:pt idx="13">
                <c:v>0.8880586138032333</c:v>
              </c:pt>
              <c:pt idx="14">
                <c:v>0.8968841419375461</c:v>
              </c:pt>
              <c:pt idx="15">
                <c:v>0.905709670071859</c:v>
              </c:pt>
              <c:pt idx="16">
                <c:v>0.9086515127832966</c:v>
              </c:pt>
              <c:pt idx="17">
                <c:v>0.9086515127832966</c:v>
              </c:pt>
              <c:pt idx="18">
                <c:v>0.9174770409176095</c:v>
              </c:pt>
              <c:pt idx="19">
                <c:v>0.9037735784373764</c:v>
              </c:pt>
              <c:pt idx="20">
                <c:v>1.0856145385861196</c:v>
              </c:pt>
            </c:numLit>
          </c:val>
          <c:smooth val="0"/>
        </c:ser>
        <c:ser>
          <c:idx val="3"/>
          <c:order val="3"/>
          <c:tx>
            <c:v>Expected random</c:v>
          </c:tx>
          <c:spPr>
            <a:ln xmlns:a="http://schemas.openxmlformats.org/drawingml/2006/main" w="28575">
              <a:solidFill>
                <a:srgbClr val="444444"/>
              </a:solidFill>
              <a:prstDash val="solid"/>
            </a:ln>
          </c:spPr>
          <c:marker>
            <c:symbol val="none"/>
            <c:size val="5"/>
          </c:marker>
          <c:cat>
            <c:strLit>
              <c:ptCount val="21"/>
              <c:pt idx="0">
                <c:v>0%</c:v>
              </c:pt>
              <c:pt idx="1">
                <c:v>5%</c:v>
              </c:pt>
              <c:pt idx="2">
                <c:v>10%</c:v>
              </c:pt>
              <c:pt idx="3">
                <c:v>15%</c:v>
              </c:pt>
              <c:pt idx="4">
                <c:v>20%</c:v>
              </c:pt>
              <c:pt idx="5">
                <c:v>25%</c:v>
              </c:pt>
              <c:pt idx="6">
                <c:v>30%</c:v>
              </c:pt>
              <c:pt idx="7">
                <c:v>35%</c:v>
              </c:pt>
              <c:pt idx="8">
                <c:v>40%</c:v>
              </c:pt>
              <c:pt idx="9">
                <c:v>45%</c:v>
              </c:pt>
              <c:pt idx="10">
                <c:v>50%</c:v>
              </c:pt>
              <c:pt idx="11">
                <c:v>55%</c:v>
              </c:pt>
              <c:pt idx="12">
                <c:v>60%</c:v>
              </c:pt>
              <c:pt idx="13">
                <c:v>65%</c:v>
              </c:pt>
              <c:pt idx="14">
                <c:v>70%</c:v>
              </c:pt>
              <c:pt idx="15">
                <c:v>75%</c:v>
              </c:pt>
              <c:pt idx="16">
                <c:v>80%</c:v>
              </c:pt>
              <c:pt idx="17">
                <c:v>85%</c:v>
              </c:pt>
              <c:pt idx="18">
                <c:v>90%</c:v>
              </c:pt>
              <c:pt idx="19">
                <c:v>95%</c:v>
              </c:pt>
              <c:pt idx="20">
                <c:v>100%</c:v>
              </c:pt>
            </c:strLit>
          </c:cat>
          <c:val>
            <c:numLit>
              <c:formatCode>0.0</c:formatCode>
              <c:ptCount val="21"/>
              <c:pt idx="0">
                <c:v>0</c:v>
              </c:pt>
              <c:pt idx="1">
                <c:v>0.05428072692930557</c:v>
              </c:pt>
              <c:pt idx="2">
                <c:v>0.10856145385861114</c:v>
              </c:pt>
              <c:pt idx="3">
                <c:v>0.1628421807879167</c:v>
              </c:pt>
              <c:pt idx="4">
                <c:v>0.21712290771722229</c:v>
              </c:pt>
              <c:pt idx="5">
                <c:v>0.27140363464652784</c:v>
              </c:pt>
              <c:pt idx="6">
                <c:v>0.3256843615758334</c:v>
              </c:pt>
              <c:pt idx="7">
                <c:v>0.379965088505139</c:v>
              </c:pt>
              <c:pt idx="8">
                <c:v>0.43424581543444457</c:v>
              </c:pt>
              <c:pt idx="9">
                <c:v>0.48852654236375015</c:v>
              </c:pt>
              <c:pt idx="10">
                <c:v>0.5428072692930557</c:v>
              </c:pt>
              <c:pt idx="11">
                <c:v>0.5970879962223613</c:v>
              </c:pt>
              <c:pt idx="12">
                <c:v>0.6513687231516668</c:v>
              </c:pt>
              <c:pt idx="13">
                <c:v>0.7056494500809725</c:v>
              </c:pt>
              <c:pt idx="14">
                <c:v>0.759930177010278</c:v>
              </c:pt>
              <c:pt idx="15">
                <c:v>0.8142109039395835</c:v>
              </c:pt>
              <c:pt idx="16">
                <c:v>0.8684916308688891</c:v>
              </c:pt>
              <c:pt idx="17">
                <c:v>0.9227723577981947</c:v>
              </c:pt>
              <c:pt idx="18">
                <c:v>0.9770530847275003</c:v>
              </c:pt>
              <c:pt idx="19">
                <c:v>1.0313338116568058</c:v>
              </c:pt>
              <c:pt idx="20">
                <c:v>1.0856145385861113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Eligible records targeted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Incremental conversions per 1,000 eligible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Response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0.0024404474716629414</c:v>
              </c:pt>
              <c:pt idx="1">
                <c:v>0.0026084341482925876</c:v>
              </c:pt>
              <c:pt idx="2">
                <c:v>0.0029718144265123607</c:v>
              </c:pt>
              <c:pt idx="3">
                <c:v>0.0030024648362619744</c:v>
              </c:pt>
              <c:pt idx="4">
                <c:v>0.0030486793896068766</c:v>
              </c:pt>
              <c:pt idx="5">
                <c:v>0.0030702780396638955</c:v>
              </c:pt>
              <c:pt idx="6">
                <c:v>0.003074225633452288</c:v>
              </c:pt>
              <c:pt idx="7">
                <c:v>0.0030830511615866007</c:v>
              </c:pt>
            </c:numLit>
          </c:val>
          <c:smooth val="0"/>
        </c:ser>
        <c:ser>
          <c:idx val="1"/>
          <c:order val="1"/>
          <c:tx>
            <c:v>S-learner</c:v>
          </c:tx>
          <c:spPr>
            <a:ln xmlns:a="http://schemas.openxmlformats.org/drawingml/2006/main" w="28575">
              <a:solidFill>
                <a:srgbClr val="F5851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58518"/>
              </a:solidFill>
            </c:spPr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0.002402128105894826</c:v>
              </c:pt>
              <c:pt idx="1">
                <c:v>0.002585678926119762</c:v>
              </c:pt>
              <c:pt idx="2">
                <c:v>0.0027428285724611905</c:v>
              </c:pt>
              <c:pt idx="3">
                <c:v>0.0027614853798067713</c:v>
              </c:pt>
              <c:pt idx="4">
                <c:v>0.0027703863184605115</c:v>
              </c:pt>
              <c:pt idx="5">
                <c:v>0.0027763454144028145</c:v>
              </c:pt>
              <c:pt idx="6">
                <c:v>0.002859722761400023</c:v>
              </c:pt>
              <c:pt idx="7">
                <c:v>0.0030830511615866033</c:v>
              </c:pt>
            </c:numLit>
          </c:val>
          <c:smooth val="0"/>
        </c:ser>
        <c:ser>
          <c:idx val="2"/>
          <c:order val="2"/>
          <c:tx>
            <c:v>T-learner</c:v>
          </c:tx>
          <c:spPr>
            <a:ln xmlns:a="http://schemas.openxmlformats.org/drawingml/2006/main" w="28575">
              <a:solidFill>
                <a:srgbClr val="54A24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A24B"/>
              </a:solidFill>
            </c:spPr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0.002258681922033632</c:v>
              </c:pt>
              <c:pt idx="1">
                <c:v>0.0024306161924516714</c:v>
              </c:pt>
              <c:pt idx="2">
                <c:v>0.0027429793935000446</c:v>
              </c:pt>
              <c:pt idx="3">
                <c:v>0.002806920413633</c:v>
              </c:pt>
              <c:pt idx="4">
                <c:v>0.002882477983572851</c:v>
              </c:pt>
              <c:pt idx="5">
                <c:v>0.002879611551380841</c:v>
              </c:pt>
              <c:pt idx="6">
                <c:v>0.0029060881357837794</c:v>
              </c:pt>
              <c:pt idx="7">
                <c:v>0.0030830511615866025</c:v>
              </c:pt>
            </c:numLit>
          </c:val>
          <c:smooth val="0"/>
        </c:ser>
        <c:ser>
          <c:idx val="3"/>
          <c:order val="3"/>
          <c:tx>
            <c:v>Expected random</c:v>
          </c:tx>
          <c:spPr>
            <a:ln xmlns:a="http://schemas.openxmlformats.org/drawingml/2006/main" w="28575">
              <a:solidFill>
                <a:srgbClr val="444444"/>
              </a:solidFill>
              <a:prstDash val="solid"/>
            </a:ln>
          </c:spPr>
          <c:marker>
            <c:symbol val="none"/>
            <c:size val="5"/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0.0020082927683863438</c:v>
              </c:pt>
              <c:pt idx="1">
                <c:v>0.002019148913772205</c:v>
              </c:pt>
              <c:pt idx="2">
                <c:v>0.002105998076859094</c:v>
              </c:pt>
              <c:pt idx="3">
                <c:v>0.002214559530717705</c:v>
              </c:pt>
              <c:pt idx="4">
                <c:v>0.0024316824384349274</c:v>
              </c:pt>
              <c:pt idx="5">
                <c:v>0.0026488053461521496</c:v>
              </c:pt>
              <c:pt idx="6">
                <c:v>0.002865928253869372</c:v>
              </c:pt>
              <c:pt idx="7">
                <c:v>0.003083051161586594</c:v>
              </c:pt>
            </c:numLit>
          </c:val>
          <c:smooth val="0"/>
        </c:ser>
        <c:ser>
          <c:idx val="4"/>
          <c:order val="4"/>
          <c:tx>
            <c:v>Target nobody</c:v>
          </c:tx>
          <c:spPr>
            <a:ln xmlns:a="http://schemas.openxmlformats.org/drawingml/2006/main" w="28575">
              <a:solidFill>
                <a:srgbClr val="8B8B8B"/>
              </a:solidFill>
              <a:prstDash val="solid"/>
            </a:ln>
          </c:spPr>
          <c:marker>
            <c:symbol val="none"/>
            <c:size val="5"/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0.001997436623000483</c:v>
              </c:pt>
              <c:pt idx="1">
                <c:v>0.001997436623000483</c:v>
              </c:pt>
              <c:pt idx="2">
                <c:v>0.001997436623000483</c:v>
              </c:pt>
              <c:pt idx="3">
                <c:v>0.001997436623000483</c:v>
              </c:pt>
              <c:pt idx="4">
                <c:v>0.001997436623000483</c:v>
              </c:pt>
              <c:pt idx="5">
                <c:v>0.001997436623000483</c:v>
              </c:pt>
              <c:pt idx="6">
                <c:v>0.001997436623000483</c:v>
              </c:pt>
              <c:pt idx="7">
                <c:v>0.001997436623000483</c:v>
              </c:pt>
            </c:numLit>
          </c:val>
          <c:smooth val="0"/>
        </c:ser>
        <c:ser>
          <c:idx val="5"/>
          <c:order val="5"/>
          <c:tx>
            <c:v>Target everyone</c:v>
          </c:tx>
          <c:spPr>
            <a:ln xmlns:a="http://schemas.openxmlformats.org/drawingml/2006/main" w="28575">
              <a:solidFill>
                <a:srgbClr val="111111"/>
              </a:solidFill>
              <a:prstDash val="solid"/>
            </a:ln>
          </c:spPr>
          <c:marker>
            <c:symbol val="none"/>
            <c:size val="5"/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0.0000</c:formatCode>
              <c:ptCount val="8"/>
              <c:pt idx="0">
                <c:v>0.0030830511615865946</c:v>
              </c:pt>
              <c:pt idx="1">
                <c:v>0.0030830511615865946</c:v>
              </c:pt>
              <c:pt idx="2">
                <c:v>0.0030830511615865946</c:v>
              </c:pt>
              <c:pt idx="3">
                <c:v>0.0030830511615865946</c:v>
              </c:pt>
              <c:pt idx="4">
                <c:v>0.0030830511615865946</c:v>
              </c:pt>
              <c:pt idx="5">
                <c:v>0.0030830511615865946</c:v>
              </c:pt>
              <c:pt idx="6">
                <c:v>0.0030830511615865946</c:v>
              </c:pt>
              <c:pt idx="7">
                <c:v>0.0030830511615865946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Eligible records targeted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0034"/>
          <c:min val="0.0016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Expected conversion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00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0.0004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S-learner minus response</c:v>
          </c:tx>
          <c:spPr>
            <a:ln xmlns:a="http://schemas.openxmlformats.org/drawingml/2006/main" w="28575">
              <a:solidFill>
                <a:srgbClr val="F5851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58518"/>
              </a:solidFill>
            </c:spPr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</c:formatCode>
              <c:ptCount val="8"/>
              <c:pt idx="0">
                <c:v>-3.8319365768115645</c:v>
              </c:pt>
              <c:pt idx="1">
                <c:v>-1.1377611086412784</c:v>
              </c:pt>
              <c:pt idx="2">
                <c:v>-2.2898585405117027</c:v>
              </c:pt>
              <c:pt idx="3">
                <c:v>-1.2048972822760176</c:v>
              </c:pt>
              <c:pt idx="4">
                <c:v>-0.695732677865913</c:v>
              </c:pt>
              <c:pt idx="5">
                <c:v>-0.48988770876846766</c:v>
              </c:pt>
              <c:pt idx="6">
                <c:v>-0.26812859006533096</c:v>
              </c:pt>
              <c:pt idx="7">
                <c:v>2.4424906541753444E-15</c:v>
              </c:pt>
            </c:numLit>
          </c:val>
          <c:smooth val="0"/>
        </c:ser>
        <c:ser>
          <c:idx val="1"/>
          <c:order val="1"/>
          <c:tx>
            <c:v>T-learner minus response</c:v>
          </c:tx>
          <c:spPr>
            <a:ln xmlns:a="http://schemas.openxmlformats.org/drawingml/2006/main" w="28575">
              <a:solidFill>
                <a:srgbClr val="54A24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A24B"/>
              </a:solidFill>
            </c:spPr>
          </c:marker>
          <c:cat>
            <c:strLit>
              <c:ptCount val="8"/>
              <c:pt idx="0">
                <c:v>1%</c:v>
              </c:pt>
              <c:pt idx="1">
                <c:v>2%</c:v>
              </c:pt>
              <c:pt idx="2">
                <c:v>10%</c:v>
              </c:pt>
              <c:pt idx="3">
                <c:v>20%</c:v>
              </c:pt>
              <c:pt idx="4">
                <c:v>40%</c:v>
              </c:pt>
              <c:pt idx="5">
                <c:v>60%</c:v>
              </c:pt>
              <c:pt idx="6">
                <c:v>80%</c:v>
              </c:pt>
              <c:pt idx="7">
                <c:v>100%</c:v>
              </c:pt>
            </c:strLit>
          </c:cat>
          <c:val>
            <c:numLit>
              <c:formatCode>0.0</c:formatCode>
              <c:ptCount val="8"/>
              <c:pt idx="0">
                <c:v>-18.176554962930947</c:v>
              </c:pt>
              <c:pt idx="1">
                <c:v>-8.890897792045802</c:v>
              </c:pt>
              <c:pt idx="2">
                <c:v>-2.288350330123161</c:v>
              </c:pt>
              <c:pt idx="3">
                <c:v>-0.9777221131448739</c:v>
              </c:pt>
              <c:pt idx="4">
                <c:v>-0.415503515085065</c:v>
              </c:pt>
              <c:pt idx="5">
                <c:v>-0.31777748047175747</c:v>
              </c:pt>
              <c:pt idx="6">
                <c:v>-0.2101718720856356</c:v>
              </c:pt>
              <c:pt idx="7">
                <c:v>1.5543122344752192E-15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-2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HT-style IPW difference per 1,000 targeted records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Response</c:v>
          </c:tx>
          <c:spPr>
            <a:ln xmlns:a="http://schemas.openxmlformats.org/drawingml/2006/main" w="28575">
              <a:solidFill>
                <a:srgbClr val="3D8DF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3D8DFF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7.410680940905211</c:v>
              </c:pt>
              <c:pt idx="1">
                <c:v>0.30123282073895097</c:v>
              </c:pt>
              <c:pt idx="2">
                <c:v>0.2387434365501474</c:v>
              </c:pt>
              <c:pt idx="3">
                <c:v>0.2318290118629437</c:v>
              </c:pt>
              <c:pt idx="4">
                <c:v>0.03829893093976037</c:v>
              </c:pt>
              <c:pt idx="5">
                <c:v>0.17748853719863925</c:v>
              </c:pt>
              <c:pt idx="6">
                <c:v>0.08841993574818002</c:v>
              </c:pt>
              <c:pt idx="7">
                <c:v>-0.04743814565987529</c:v>
              </c:pt>
              <c:pt idx="8">
                <c:v>0.05912436810831584</c:v>
              </c:pt>
              <c:pt idx="9">
                <c:v>0.02948460903408421</c:v>
              </c:pt>
            </c:numLit>
          </c:val>
          <c:smooth val="0"/>
        </c:ser>
        <c:ser>
          <c:idx val="1"/>
          <c:order val="1"/>
          <c:tx>
            <c:v>S-learner</c:v>
          </c:tx>
          <c:spPr>
            <a:ln xmlns:a="http://schemas.openxmlformats.org/drawingml/2006/main" w="28575">
              <a:solidFill>
                <a:srgbClr val="F58518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F58518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7.191527291706624</c:v>
              </c:pt>
              <c:pt idx="1">
                <c:v>0.18703595431355946</c:v>
              </c:pt>
              <c:pt idx="2">
                <c:v>0.11077369262079519</c:v>
              </c:pt>
              <c:pt idx="3">
                <c:v>-0.016942503810512557</c:v>
              </c:pt>
              <c:pt idx="4">
                <c:v>-0.3108907142481302</c:v>
              </c:pt>
              <c:pt idx="5">
                <c:v>0.38346951417362324</c:v>
              </c:pt>
              <c:pt idx="6">
                <c:v>0.14695077149155034</c:v>
              </c:pt>
              <c:pt idx="7">
                <c:v>0.6879622075262597</c:v>
              </c:pt>
              <c:pt idx="8">
                <c:v>0.18977048294035548</c:v>
              </c:pt>
              <c:pt idx="9">
                <c:v>1.6935198986365247</c:v>
              </c:pt>
            </c:numLit>
          </c:val>
          <c:smooth val="0"/>
        </c:ser>
        <c:ser>
          <c:idx val="2"/>
          <c:order val="2"/>
          <c:tx>
            <c:v>T-learner</c:v>
          </c:tx>
          <c:spPr>
            <a:ln xmlns:a="http://schemas.openxmlformats.org/drawingml/2006/main" w="28575">
              <a:solidFill>
                <a:srgbClr val="54A24B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54A24B"/>
              </a:solidFill>
            </c:spPr>
          </c:marker>
          <c:cat>
            <c:numLit>
              <c:formatCode>General</c:formatCode>
              <c:ptCount val="10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  <c:pt idx="8">
                <c:v>9</c:v>
              </c:pt>
              <c:pt idx="9">
                <c:v>10</c:v>
              </c:pt>
            </c:numLit>
          </c:cat>
          <c:val>
            <c:numLit>
              <c:formatCode>0.0</c:formatCode>
              <c:ptCount val="10"/>
              <c:pt idx="0">
                <c:v>5.753052437700114</c:v>
              </c:pt>
              <c:pt idx="1">
                <c:v>0.6271223139361101</c:v>
              </c:pt>
              <c:pt idx="2">
                <c:v>0.7362035455562754</c:v>
              </c:pt>
              <c:pt idx="3">
                <c:v>0.020134760305471733</c:v>
              </c:pt>
              <c:pt idx="4">
                <c:v>0.07746048458705553</c:v>
              </c:pt>
              <c:pt idx="5">
                <c:v>-0.08958600852454653</c:v>
              </c:pt>
              <c:pt idx="6">
                <c:v>0.1473187978786093</c:v>
              </c:pt>
              <c:pt idx="7">
                <c:v>0.11799410029498526</c:v>
              </c:pt>
              <c:pt idx="8">
                <c:v>0.08824048473439615</c:v>
              </c:pt>
              <c:pt idx="9">
                <c:v>1.6777453577007362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Score decile (1 = highest priority)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000000"/>
                    </a:solidFill>
                  </a:rPr>
                  <a:t>Incremental conversions per 1,000 records in decile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000000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000000"/>
              </a:solidFill>
            </a:defRPr>
          </a:pPr>
        </a:p>
      </c:txPr>
    </c:legend>
    <c:plotVisOnly val="1"/>
    <c:dispBlanksAs val="gap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ase-study-eyebrow">
            <a:extLst xmlns:a="http://schemas.openxmlformats.org/drawingml/2006/main">
              <a:ext uri="{FF2B5EF4-FFF2-40B4-BE49-F238E27FC236}">
                <a16:creationId xmlns:a16="http://schemas.microsoft.com/office/drawing/2014/main" id="{A99EEE09-AB09-4B29-8CF6-19601F93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UPLIFT MODELING | INTERVIEW CASE STUDY</a:t>
            </a:r>
          </a:p>
        </p:txBody>
      </p:sp>
      <p:sp>
        <p:nvSpPr>
          <p:cNvPr id="2" name="case-study-title">
            <a:extLst xmlns:a="http://schemas.openxmlformats.org/drawingml/2006/main">
              <a:ext uri="{FF2B5EF4-FFF2-40B4-BE49-F238E27FC236}">
                <a16:creationId xmlns:a16="http://schemas.microsoft.com/office/drawing/2014/main" id="{57C24BE2-0BE3-48C7-A543-880AA4AB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7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case study: response targeting at 2%</a:t>
            </a:r>
          </a:p>
        </p:txBody>
      </p:sp>
      <p:sp>
        <p:nvSpPr>
          <p:cNvPr id="3" name="case-study-summary">
            <a:extLst xmlns:a="http://schemas.openxmlformats.org/drawingml/2006/main">
              <a:ext uri="{FF2B5EF4-FFF2-40B4-BE49-F238E27FC236}">
                <a16:creationId xmlns:a16="http://schemas.microsoft.com/office/drawing/2014/main" id="{DD35282D-FA18-4C71-928C-8611DCD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2776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Under one hypothetical scenario, validation selected response over T-learner and no targeting; the decision was frozen before final evaluation. The economic candidate scope was manually defined, and S-learner was not excluded by an executable screening test.</a:t>
            </a:r>
          </a:p>
        </p:txBody>
      </p:sp>
      <p:sp>
        <p:nvSpPr>
          <p:cNvPr id="4" name="candidate-set">
            <a:extLst xmlns:a="http://schemas.openxmlformats.org/drawingml/2006/main">
              <a:ext uri="{FF2B5EF4-FFF2-40B4-BE49-F238E27FC236}">
                <a16:creationId xmlns:a16="http://schemas.microsoft.com/office/drawing/2014/main" id="{D33D0F25-7985-4A29-8B57-71540888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Economic candidate set: response  |  T-learner  |  target nobody</a:t>
            </a:r>
          </a:p>
        </p:txBody>
      </p:sp>
      <p:sp>
        <p:nvSpPr>
          <p:cNvPr id="5" name="rule-300">
            <a:extLst xmlns:a="http://schemas.openxmlformats.org/drawingml/2006/main">
              <a:ext uri="{FF2B5EF4-FFF2-40B4-BE49-F238E27FC236}">
                <a16:creationId xmlns:a16="http://schemas.microsoft.com/office/drawing/2014/main" id="{590C01FF-55A7-494D-8311-A9B3B68D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case-card-1">
            <a:extLst xmlns:a="http://schemas.openxmlformats.org/drawingml/2006/main">
              <a:ext uri="{FF2B5EF4-FFF2-40B4-BE49-F238E27FC236}">
                <a16:creationId xmlns:a16="http://schemas.microsoft.com/office/drawing/2014/main" id="{FE915060-4E0E-4063-A7DF-8259500F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35814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case-kicker-1">
            <a:extLst xmlns:a="http://schemas.openxmlformats.org/drawingml/2006/main">
              <a:ext uri="{FF2B5EF4-FFF2-40B4-BE49-F238E27FC236}">
                <a16:creationId xmlns:a16="http://schemas.microsoft.com/office/drawing/2014/main" id="{431A1193-7ED9-4DE7-A1EF-511FB402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FROZEN OPERATING POINT</a:t>
            </a:r>
          </a:p>
        </p:txBody>
      </p:sp>
      <p:sp>
        <p:nvSpPr>
          <p:cNvPr id="8" name="case-stat-1">
            <a:extLst xmlns:a="http://schemas.openxmlformats.org/drawingml/2006/main">
              <a:ext uri="{FF2B5EF4-FFF2-40B4-BE49-F238E27FC236}">
                <a16:creationId xmlns:a16="http://schemas.microsoft.com/office/drawing/2014/main" id="{43EF359B-4553-4746-BDD2-6D50AB83D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2%</a:t>
            </a:r>
          </a:p>
        </p:txBody>
      </p:sp>
      <p:sp>
        <p:nvSpPr>
          <p:cNvPr id="9" name="case-body-1">
            <a:extLst xmlns:a="http://schemas.openxmlformats.org/drawingml/2006/main">
              <a:ext uri="{FF2B5EF4-FFF2-40B4-BE49-F238E27FC236}">
                <a16:creationId xmlns:a16="http://schemas.microsoft.com/office/drawing/2014/main" id="{45ECB06F-8076-4E27-BABF-2F67F335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43425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Selected on development validation, then locked before final access. Equivalent to 2,000 of 100,000 eligible records in the scenario.</a:t>
            </a:r>
          </a:p>
        </p:txBody>
      </p:sp>
      <p:sp>
        <p:nvSpPr>
          <p:cNvPr id="10" name="case-card-2">
            <a:extLst xmlns:a="http://schemas.openxmlformats.org/drawingml/2006/main">
              <a:ext uri="{FF2B5EF4-FFF2-40B4-BE49-F238E27FC236}">
                <a16:creationId xmlns:a16="http://schemas.microsoft.com/office/drawing/2014/main" id="{15AC1056-A1B0-4C44-B0B2-E7611911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5814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case-kicker-2">
            <a:extLst xmlns:a="http://schemas.openxmlformats.org/drawingml/2006/main">
              <a:ext uri="{FF2B5EF4-FFF2-40B4-BE49-F238E27FC236}">
                <a16:creationId xmlns:a16="http://schemas.microsoft.com/office/drawing/2014/main" id="{E7E1852B-D705-4600-BB45-102587C1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528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FINAL NET VALUE</a:t>
            </a:r>
          </a:p>
        </p:txBody>
      </p:sp>
      <p:sp>
        <p:nvSpPr>
          <p:cNvPr id="12" name="case-stat-2">
            <a:extLst xmlns:a="http://schemas.openxmlformats.org/drawingml/2006/main">
              <a:ext uri="{FF2B5EF4-FFF2-40B4-BE49-F238E27FC236}">
                <a16:creationId xmlns:a16="http://schemas.microsoft.com/office/drawing/2014/main" id="{F66A1417-28A7-4845-B635-FDB6E29C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+5,110</a:t>
            </a:r>
          </a:p>
        </p:txBody>
      </p:sp>
      <p:sp>
        <p:nvSpPr>
          <p:cNvPr id="13" name="case-body-2">
            <a:extLst xmlns:a="http://schemas.openxmlformats.org/drawingml/2006/main">
              <a:ext uri="{FF2B5EF4-FFF2-40B4-BE49-F238E27FC236}">
                <a16:creationId xmlns:a16="http://schemas.microsoft.com/office/drawing/2014/main" id="{58885C08-64D1-4521-AA83-53376ED4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543425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Hypothetical units versus target nobody. Conditional row-level paired-bootstrap 95% CI: +1,816 to +8,172.</a:t>
            </a:r>
          </a:p>
        </p:txBody>
      </p:sp>
      <p:sp>
        <p:nvSpPr>
          <p:cNvPr id="14" name="case-card-3">
            <a:extLst xmlns:a="http://schemas.openxmlformats.org/drawingml/2006/main">
              <a:ext uri="{FF2B5EF4-FFF2-40B4-BE49-F238E27FC236}">
                <a16:creationId xmlns:a16="http://schemas.microsoft.com/office/drawing/2014/main" id="{A09D9DCA-9DC6-4E22-A6AC-7C1D2C94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105150"/>
            <a:ext cx="35814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case-kicker-3">
            <a:extLst xmlns:a="http://schemas.openxmlformats.org/drawingml/2006/main">
              <a:ext uri="{FF2B5EF4-FFF2-40B4-BE49-F238E27FC236}">
                <a16:creationId xmlns:a16="http://schemas.microsoft.com/office/drawing/2014/main" id="{4356BACC-2762-4D4D-87CB-BD00412E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3086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CHALLENGER VERDICT</a:t>
            </a:r>
          </a:p>
        </p:txBody>
      </p:sp>
      <p:sp>
        <p:nvSpPr>
          <p:cNvPr id="16" name="case-stat-3">
            <a:extLst xmlns:a="http://schemas.openxmlformats.org/drawingml/2006/main">
              <a:ext uri="{FF2B5EF4-FFF2-40B4-BE49-F238E27FC236}">
                <a16:creationId xmlns:a16="http://schemas.microsoft.com/office/drawing/2014/main" id="{34B08651-0C04-4588-AE76-3A22E486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33800"/>
            <a:ext cx="3086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Benchmark champion</a:t>
            </a:r>
          </a:p>
        </p:txBody>
      </p:sp>
      <p:sp>
        <p:nvSpPr>
          <p:cNvPr id="17" name="case-body-3">
            <a:extLst xmlns:a="http://schemas.openxmlformats.org/drawingml/2006/main">
              <a:ext uri="{FF2B5EF4-FFF2-40B4-BE49-F238E27FC236}">
                <a16:creationId xmlns:a16="http://schemas.microsoft.com/office/drawing/2014/main" id="{610C6C9C-7649-404E-90DA-5CAC3A4B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43425"/>
            <a:ext cx="30861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 minus response: -1,778; conditional row-level 95% CI -3,461 to +34. Superiority was not demonstrated.</a:t>
            </a:r>
          </a:p>
        </p:txBody>
      </p:sp>
      <p:sp>
        <p:nvSpPr>
          <p:cNvPr id="18" name="case-boundary">
            <a:extLst xmlns:a="http://schemas.openxmlformats.org/drawingml/2006/main">
              <a:ext uri="{FF2B5EF4-FFF2-40B4-BE49-F238E27FC236}">
                <a16:creationId xmlns:a16="http://schemas.microsoft.com/office/drawing/2014/main" id="{E0BEEFF8-CD8D-43F0-B7AF-67A340A0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62650"/>
            <a:ext cx="10782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Offline causal targeting and policy-evaluation case study. Response is champion only among fixed linear baselines; CIs omit refit, selection, and latent cluster uncertainty.</a:t>
            </a:r>
          </a:p>
        </p:txBody>
      </p:sp>
      <p:sp>
        <p:nvSpPr>
          <p:cNvPr id="19" name="footer-1">
            <a:extLst xmlns:a="http://schemas.openxmlformats.org/drawingml/2006/main">
              <a:ext uri="{FF2B5EF4-FFF2-40B4-BE49-F238E27FC236}">
                <a16:creationId xmlns:a16="http://schemas.microsoft.com/office/drawing/2014/main" id="{F0586BF2-8250-4666-86C8-CF8AB16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Sources: frozen result card, economic decisions, promotion decision  |  Records are not verified unique people</a:t>
            </a:r>
          </a:p>
        </p:txBody>
      </p:sp>
      <p:sp>
        <p:nvSpPr>
          <p:cNvPr id="20" name="page-1">
            <a:extLst xmlns:a="http://schemas.openxmlformats.org/drawingml/2006/main">
              <a:ext uri="{FF2B5EF4-FFF2-40B4-BE49-F238E27FC236}">
                <a16:creationId xmlns:a16="http://schemas.microsoft.com/office/drawing/2014/main" id="{201150D9-6793-4C0D-A41F-18CA19969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065685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ini-title">
            <a:extLst xmlns:a="http://schemas.openxmlformats.org/drawingml/2006/main">
              <a:ext uri="{FF2B5EF4-FFF2-40B4-BE49-F238E27FC236}">
                <a16:creationId xmlns:a16="http://schemas.microsoft.com/office/drawing/2014/main" id="{B6C8F0E8-0743-47A5-B135-1C7ED0BF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Response leads the evaluated fixed linear baselines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C05BA018-E46E-4424-BA75-817B0D2B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2009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6c6bfbe2b846be"/>
          </a:graphicData>
        </a:graphic>
      </p:graphicFrame>
      <p:sp>
        <p:nvSpPr>
          <p:cNvPr id="4" name="qini-interpretation">
            <a:extLst xmlns:a="http://schemas.openxmlformats.org/drawingml/2006/main">
              <a:ext uri="{FF2B5EF4-FFF2-40B4-BE49-F238E27FC236}">
                <a16:creationId xmlns:a16="http://schemas.microsoft.com/office/drawing/2014/main" id="{7FA411D7-D40D-4C63-85F9-1B1882DD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638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Among the evaluated fixed linear baselines, all learned rankings beat expected random early and response holds the largest cumulative gain through most of the range.</a:t>
            </a:r>
          </a:p>
        </p:txBody>
      </p:sp>
      <p:sp>
        <p:nvSpPr>
          <p:cNvPr id="5" name="qini-card-1-panel">
            <a:extLst xmlns:a="http://schemas.openxmlformats.org/drawingml/2006/main">
              <a:ext uri="{FF2B5EF4-FFF2-40B4-BE49-F238E27FC236}">
                <a16:creationId xmlns:a16="http://schemas.microsoft.com/office/drawing/2014/main" id="{15CD45AE-EF6F-4C7B-AA0A-51AEADF00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qini-card-1-stat">
            <a:extLst xmlns:a="http://schemas.openxmlformats.org/drawingml/2006/main">
              <a:ext uri="{FF2B5EF4-FFF2-40B4-BE49-F238E27FC236}">
                <a16:creationId xmlns:a16="http://schemas.microsoft.com/office/drawing/2014/main" id="{D4669739-FAE3-457D-BDFB-1E244F1D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0.611</a:t>
            </a:r>
          </a:p>
        </p:txBody>
      </p:sp>
      <p:sp>
        <p:nvSpPr>
          <p:cNvPr id="7" name="qini-card-1-label">
            <a:extLst xmlns:a="http://schemas.openxmlformats.org/drawingml/2006/main">
              <a:ext uri="{FF2B5EF4-FFF2-40B4-BE49-F238E27FC236}">
                <a16:creationId xmlns:a16="http://schemas.microsoft.com/office/drawing/2014/main" id="{E9476106-64A2-4FF8-94AA-9F7D0A2F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Response gain per 1,000 eligible records at the frozen 2% point</a:t>
            </a:r>
          </a:p>
        </p:txBody>
      </p:sp>
      <p:sp>
        <p:nvSpPr>
          <p:cNvPr id="8" name="qini-card-2-panel">
            <a:extLst xmlns:a="http://schemas.openxmlformats.org/drawingml/2006/main">
              <a:ext uri="{FF2B5EF4-FFF2-40B4-BE49-F238E27FC236}">
                <a16:creationId xmlns:a16="http://schemas.microsoft.com/office/drawing/2014/main" id="{338EB1EE-AE04-48C7-B885-0D8D825A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qini-card-2-stat">
            <a:extLst xmlns:a="http://schemas.openxmlformats.org/drawingml/2006/main">
              <a:ext uri="{FF2B5EF4-FFF2-40B4-BE49-F238E27FC236}">
                <a16:creationId xmlns:a16="http://schemas.microsoft.com/office/drawing/2014/main" id="{7D3D53AF-4A1A-4E57-9C68-EEE44FBC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1.086</a:t>
            </a:r>
          </a:p>
        </p:txBody>
      </p:sp>
      <p:sp>
        <p:nvSpPr>
          <p:cNvPr id="10" name="qini-card-2-label">
            <a:extLst xmlns:a="http://schemas.openxmlformats.org/drawingml/2006/main">
              <a:ext uri="{FF2B5EF4-FFF2-40B4-BE49-F238E27FC236}">
                <a16:creationId xmlns:a16="http://schemas.microsoft.com/office/drawing/2014/main" id="{E2BEFC2F-39E8-4DCA-A7E8-C01A313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Intention-to-treat gain per 1,000 eligible records at 100%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6654FD69-CFEC-49B9-A2E8-0DC87441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Source: sealed final Qini curve  |  Records are not verified unique people</a:t>
            </a:r>
          </a:p>
        </p:txBody>
      </p:sp>
      <p:sp>
        <p:nvSpPr>
          <p:cNvPr id="12" name="page-2">
            <a:extLst xmlns:a="http://schemas.openxmlformats.org/drawingml/2006/main">
              <a:ext uri="{FF2B5EF4-FFF2-40B4-BE49-F238E27FC236}">
                <a16:creationId xmlns:a16="http://schemas.microsoft.com/office/drawing/2014/main" id="{954E0876-9CA8-4ED8-8F0A-FF444CE68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2995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olicy-value-title">
            <a:extLst xmlns:a="http://schemas.openxmlformats.org/drawingml/2006/main">
              <a:ext uri="{FF2B5EF4-FFF2-40B4-BE49-F238E27FC236}">
                <a16:creationId xmlns:a16="http://schemas.microsoft.com/office/drawing/2014/main" id="{E4DFFADB-4A02-42C2-BBB5-3956D0F5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Response leads before policy values converge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B4A8DBFB-ECB2-47CD-8AF9-FD04CD1B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2009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96bcc6fa8e4eef"/>
          </a:graphicData>
        </a:graphic>
      </p:graphicFrame>
      <p:sp>
        <p:nvSpPr>
          <p:cNvPr id="4" name="policy-value-interpretation">
            <a:extLst xmlns:a="http://schemas.openxmlformats.org/drawingml/2006/main">
              <a:ext uri="{FF2B5EF4-FFF2-40B4-BE49-F238E27FC236}">
                <a16:creationId xmlns:a16="http://schemas.microsoft.com/office/drawing/2014/main" id="{F5046503-AF02-4572-BEA7-820C0BCE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638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This is an outcome-rate diagnostic. The 2% operating point came from validation net value and was frozen before final access.</a:t>
            </a:r>
          </a:p>
        </p:txBody>
      </p:sp>
      <p:sp>
        <p:nvSpPr>
          <p:cNvPr id="5" name="policy-value-card-1-panel">
            <a:extLst xmlns:a="http://schemas.openxmlformats.org/drawingml/2006/main">
              <a:ext uri="{FF2B5EF4-FFF2-40B4-BE49-F238E27FC236}">
                <a16:creationId xmlns:a16="http://schemas.microsoft.com/office/drawing/2014/main" id="{E5B711A6-30D7-4D97-B860-E6B469B1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6" name="policy-value-card-1-stat">
            <a:extLst xmlns:a="http://schemas.openxmlformats.org/drawingml/2006/main">
              <a:ext uri="{FF2B5EF4-FFF2-40B4-BE49-F238E27FC236}">
                <a16:creationId xmlns:a16="http://schemas.microsoft.com/office/drawing/2014/main" id="{3298C2D4-8D1D-4902-9E8D-8EBDD225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0.00261</a:t>
            </a:r>
          </a:p>
        </p:txBody>
      </p:sp>
      <p:sp>
        <p:nvSpPr>
          <p:cNvPr id="7" name="policy-value-card-1-label">
            <a:extLst xmlns:a="http://schemas.openxmlformats.org/drawingml/2006/main">
              <a:ext uri="{FF2B5EF4-FFF2-40B4-BE49-F238E27FC236}">
                <a16:creationId xmlns:a16="http://schemas.microsoft.com/office/drawing/2014/main" id="{D6C80BD8-418C-47F7-92E7-05789F34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Final response policy value at 2% targeting</a:t>
            </a:r>
          </a:p>
        </p:txBody>
      </p:sp>
      <p:sp>
        <p:nvSpPr>
          <p:cNvPr id="8" name="policy-value-card-2-panel">
            <a:extLst xmlns:a="http://schemas.openxmlformats.org/drawingml/2006/main">
              <a:ext uri="{FF2B5EF4-FFF2-40B4-BE49-F238E27FC236}">
                <a16:creationId xmlns:a16="http://schemas.microsoft.com/office/drawing/2014/main" id="{87857F23-79A3-47B2-BCEF-ADF8C7B1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9" name="policy-value-card-2-stat">
            <a:extLst xmlns:a="http://schemas.openxmlformats.org/drawingml/2006/main">
              <a:ext uri="{FF2B5EF4-FFF2-40B4-BE49-F238E27FC236}">
                <a16:creationId xmlns:a16="http://schemas.microsoft.com/office/drawing/2014/main" id="{C68AFBF7-D8E3-4380-AE16-988AF299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2%</a:t>
            </a:r>
          </a:p>
        </p:txBody>
      </p:sp>
      <p:sp>
        <p:nvSpPr>
          <p:cNvPr id="10" name="policy-value-card-2-label">
            <a:extLst xmlns:a="http://schemas.openxmlformats.org/drawingml/2006/main">
              <a:ext uri="{FF2B5EF4-FFF2-40B4-BE49-F238E27FC236}">
                <a16:creationId xmlns:a16="http://schemas.microsoft.com/office/drawing/2014/main" id="{8FA21E5C-0B28-49A8-91B5-A2172BB3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Economic operating point selected on validation, not on this final chart</a:t>
            </a:r>
          </a:p>
        </p:txBody>
      </p:sp>
      <p:sp>
        <p:nvSpPr>
          <p:cNvPr id="11" name="footer-3">
            <a:extLst xmlns:a="http://schemas.openxmlformats.org/drawingml/2006/main">
              <a:ext uri="{FF2B5EF4-FFF2-40B4-BE49-F238E27FC236}">
                <a16:creationId xmlns:a16="http://schemas.microsoft.com/office/drawing/2014/main" id="{86606CD9-81E1-4600-B3B0-1F39A30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Source: sealed final budget metrics  |  Records are not verified unique people</a:t>
            </a:r>
          </a:p>
        </p:txBody>
      </p:sp>
      <p:sp>
        <p:nvSpPr>
          <p:cNvPr id="12" name="page-3">
            <a:extLst xmlns:a="http://schemas.openxmlformats.org/drawingml/2006/main">
              <a:ext uri="{FF2B5EF4-FFF2-40B4-BE49-F238E27FC236}">
                <a16:creationId xmlns:a16="http://schemas.microsoft.com/office/drawing/2014/main" id="{BFD7F74C-00ED-4F69-A2AB-7920C0C6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99659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omparison-title">
            <a:extLst xmlns:a="http://schemas.openxmlformats.org/drawingml/2006/main">
              <a:ext uri="{FF2B5EF4-FFF2-40B4-BE49-F238E27FC236}">
                <a16:creationId xmlns:a16="http://schemas.microsoft.com/office/drawing/2014/main" id="{E06BFD78-E93B-4D0C-8DA4-13BC0490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the evaluated 20% budget, S and T trail response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D551948A-6BFF-4F42-B765-A55F8CC7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2009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fd55f04d3074bda"/>
          </a:graphicData>
        </a:graphic>
      </p:graphicFrame>
      <p:sp>
        <p:nvSpPr>
          <p:cNvPr id="4" name="comparison-interpretation">
            <a:extLst xmlns:a="http://schemas.openxmlformats.org/drawingml/2006/main">
              <a:ext uri="{FF2B5EF4-FFF2-40B4-BE49-F238E27FC236}">
                <a16:creationId xmlns:a16="http://schemas.microsoft.com/office/drawing/2014/main" id="{E0CE5575-37B4-478C-B551-2FA7A7E8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638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Negative values favor response. Conditional row-level intervals exclude zero at 20%; this is budget-specific evidence, not global inferiority or an executable scope rule.</a:t>
            </a:r>
          </a:p>
        </p:txBody>
      </p:sp>
      <p:sp>
        <p:nvSpPr>
          <p:cNvPr id="5" name="comparison-manual-x-title">
            <a:extLst xmlns:a="http://schemas.openxmlformats.org/drawingml/2006/main">
              <a:ext uri="{FF2B5EF4-FFF2-40B4-BE49-F238E27FC236}">
                <a16:creationId xmlns:a16="http://schemas.microsoft.com/office/drawing/2014/main" id="{F91D62D3-8D3C-4FD2-A24A-0FBA9277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134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Eligible records targeted</a:t>
            </a:r>
          </a:p>
        </p:txBody>
      </p:sp>
      <p:sp>
        <p:nvSpPr>
          <p:cNvPr id="6" name="comparison-card-1-panel">
            <a:extLst xmlns:a="http://schemas.openxmlformats.org/drawingml/2006/main">
              <a:ext uri="{FF2B5EF4-FFF2-40B4-BE49-F238E27FC236}">
                <a16:creationId xmlns:a16="http://schemas.microsoft.com/office/drawing/2014/main" id="{2A0A46F9-CD74-4703-8DF6-C1123975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comparison-card-1-stat">
            <a:extLst xmlns:a="http://schemas.openxmlformats.org/drawingml/2006/main">
              <a:ext uri="{FF2B5EF4-FFF2-40B4-BE49-F238E27FC236}">
                <a16:creationId xmlns:a16="http://schemas.microsoft.com/office/drawing/2014/main" id="{8CD99CD1-E14F-4F12-AA98-23C2040F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-0.978</a:t>
            </a:r>
          </a:p>
        </p:txBody>
      </p:sp>
      <p:sp>
        <p:nvSpPr>
          <p:cNvPr id="8" name="comparison-card-1-label">
            <a:extLst xmlns:a="http://schemas.openxmlformats.org/drawingml/2006/main">
              <a:ext uri="{FF2B5EF4-FFF2-40B4-BE49-F238E27FC236}">
                <a16:creationId xmlns:a16="http://schemas.microsoft.com/office/drawing/2014/main" id="{CA613CBE-B981-4BDA-87F3-C82915A6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 minus response at 20%; 95% CI -1.752 to -0.163</a:t>
            </a:r>
          </a:p>
        </p:txBody>
      </p:sp>
      <p:sp>
        <p:nvSpPr>
          <p:cNvPr id="9" name="comparison-card-2-panel">
            <a:extLst xmlns:a="http://schemas.openxmlformats.org/drawingml/2006/main">
              <a:ext uri="{FF2B5EF4-FFF2-40B4-BE49-F238E27FC236}">
                <a16:creationId xmlns:a16="http://schemas.microsoft.com/office/drawing/2014/main" id="{4B17CB3E-8562-4694-A02B-BBE55DAD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0" name="comparison-card-2-stat">
            <a:extLst xmlns:a="http://schemas.openxmlformats.org/drawingml/2006/main">
              <a:ext uri="{FF2B5EF4-FFF2-40B4-BE49-F238E27FC236}">
                <a16:creationId xmlns:a16="http://schemas.microsoft.com/office/drawing/2014/main" id="{5DCDCFBE-703E-4578-AAAD-139EFF3A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-1.205</a:t>
            </a:r>
          </a:p>
        </p:txBody>
      </p:sp>
      <p:sp>
        <p:nvSpPr>
          <p:cNvPr id="11" name="comparison-card-2-label">
            <a:extLst xmlns:a="http://schemas.openxmlformats.org/drawingml/2006/main">
              <a:ext uri="{FF2B5EF4-FFF2-40B4-BE49-F238E27FC236}">
                <a16:creationId xmlns:a16="http://schemas.microsoft.com/office/drawing/2014/main" id="{3837D6F6-ECAF-499B-84D8-EACB60F80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 minus response at 20%; 95% CI -2.134 to -0.189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B1BB2E9D-DAE9-4FFB-A98A-5D41ED6A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Source: sealed paired policy comparisons  |  Records are not verified unique people</a:t>
            </a:r>
          </a:p>
        </p:txBody>
      </p:sp>
      <p:sp>
        <p:nvSpPr>
          <p:cNvPr id="13" name="page-4">
            <a:extLst xmlns:a="http://schemas.openxmlformats.org/drawingml/2006/main">
              <a:ext uri="{FF2B5EF4-FFF2-40B4-BE49-F238E27FC236}">
                <a16:creationId xmlns:a16="http://schemas.microsoft.com/office/drawing/2014/main" id="{5A6B4855-C4E8-4236-A1B9-95CE6E00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299650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decile-title">
            <a:extLst xmlns:a="http://schemas.openxmlformats.org/drawingml/2006/main">
              <a:ext uri="{FF2B5EF4-FFF2-40B4-BE49-F238E27FC236}">
                <a16:creationId xmlns:a16="http://schemas.microsoft.com/office/drawing/2014/main" id="{3408F51E-DD6D-4F32-8B4B-09E42FAC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first decile carries most observed uplift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0ED9A571-365B-4C71-998F-4357F4123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66800"/>
            <a:ext cx="112776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57200" y="1371600"/>
          <a:ext xmlns:a="http://schemas.openxmlformats.org/drawingml/2006/main" cx="7200900" cy="4857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fe13c1790f4213"/>
          </a:graphicData>
        </a:graphic>
      </p:graphicFrame>
      <p:sp>
        <p:nvSpPr>
          <p:cNvPr id="4" name="decile-interpretation">
            <a:extLst xmlns:a="http://schemas.openxmlformats.org/drawingml/2006/main">
              <a:ext uri="{FF2B5EF4-FFF2-40B4-BE49-F238E27FC236}">
                <a16:creationId xmlns:a16="http://schemas.microsoft.com/office/drawing/2014/main" id="{67096562-483C-4E44-AB46-06125C9B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66850"/>
            <a:ext cx="3638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The first decile carries the strongest signal. Later deciles are near zero, so broad targeting dilutes the average incremental effect.</a:t>
            </a:r>
          </a:p>
        </p:txBody>
      </p:sp>
      <p:sp>
        <p:nvSpPr>
          <p:cNvPr id="5" name="decile-card-1-panel">
            <a:extLst xmlns:a="http://schemas.openxmlformats.org/drawingml/2006/main">
              <a:ext uri="{FF2B5EF4-FFF2-40B4-BE49-F238E27FC236}">
                <a16:creationId xmlns:a16="http://schemas.microsoft.com/office/drawing/2014/main" id="{6315AC60-33BF-4E28-8337-D6FE1B1BC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6" name="decile-card-1-stat">
            <a:extLst xmlns:a="http://schemas.openxmlformats.org/drawingml/2006/main">
              <a:ext uri="{FF2B5EF4-FFF2-40B4-BE49-F238E27FC236}">
                <a16:creationId xmlns:a16="http://schemas.microsoft.com/office/drawing/2014/main" id="{E881B440-A315-4F9B-8A27-468C80F5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7.41</a:t>
            </a:r>
          </a:p>
        </p:txBody>
      </p:sp>
      <p:sp>
        <p:nvSpPr>
          <p:cNvPr id="7" name="decile-card-1-label">
            <a:extLst xmlns:a="http://schemas.openxmlformats.org/drawingml/2006/main">
              <a:ext uri="{FF2B5EF4-FFF2-40B4-BE49-F238E27FC236}">
                <a16:creationId xmlns:a16="http://schemas.microsoft.com/office/drawing/2014/main" id="{E9D74215-F313-4F39-BDFA-9DAD8346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Response Hájek uplift per 1,000 records in decile 1</a:t>
            </a:r>
          </a:p>
        </p:txBody>
      </p:sp>
      <p:sp>
        <p:nvSpPr>
          <p:cNvPr id="8" name="decile-card-2-panel">
            <a:extLst xmlns:a="http://schemas.openxmlformats.org/drawingml/2006/main">
              <a:ext uri="{FF2B5EF4-FFF2-40B4-BE49-F238E27FC236}">
                <a16:creationId xmlns:a16="http://schemas.microsoft.com/office/drawing/2014/main" id="{C065B531-6BA9-4107-A954-4062C275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67250"/>
            <a:ext cx="36385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decile-card-2-stat">
            <a:extLst xmlns:a="http://schemas.openxmlformats.org/drawingml/2006/main">
              <a:ext uri="{FF2B5EF4-FFF2-40B4-BE49-F238E27FC236}">
                <a16:creationId xmlns:a16="http://schemas.microsoft.com/office/drawing/2014/main" id="{6B18CADB-D605-4398-9B4A-B30FA931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387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 × 40k</a:t>
            </a:r>
          </a:p>
        </p:txBody>
      </p:sp>
      <p:sp>
        <p:nvSpPr>
          <p:cNvPr id="10" name="decile-card-2-label">
            <a:extLst xmlns:a="http://schemas.openxmlformats.org/drawingml/2006/main">
              <a:ext uri="{FF2B5EF4-FFF2-40B4-BE49-F238E27FC236}">
                <a16:creationId xmlns:a16="http://schemas.microsoft.com/office/drawing/2014/main" id="{855CDC4C-AE9B-47E4-87CB-791BB0A41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353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Ten equal final-sample deciles, each containing 40,000 records</a:t>
            </a:r>
          </a:p>
        </p:txBody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B15115E7-B68D-4B54-8E00-91CECC9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03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Source: sealed final decile metrics  |  Records are not verified unique people</a:t>
            </a:r>
          </a:p>
        </p:txBody>
      </p:sp>
      <p:sp>
        <p:nvSpPr>
          <p:cNvPr id="12" name="page-5">
            <a:extLst xmlns:a="http://schemas.openxmlformats.org/drawingml/2006/main">
              <a:ext uri="{FF2B5EF4-FFF2-40B4-BE49-F238E27FC236}">
                <a16:creationId xmlns:a16="http://schemas.microsoft.com/office/drawing/2014/main" id="{658724D8-F502-4A38-8E3A-B363B4A1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032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596273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814057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2026-08-17T19:40:11.4180000Z</dcterms:created>
  <dcterms:modified xsi:type="dcterms:W3CDTF">2026-08-17T19:40:11.4180000Z</dcterms:modified>
</coreProperties>
</file>